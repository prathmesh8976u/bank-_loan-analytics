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90" r:id="rId6"/>
    <p:sldId id="294" r:id="rId7"/>
    <p:sldId id="286" r:id="rId8"/>
    <p:sldId id="264" r:id="rId9"/>
    <p:sldId id="297" r:id="rId10"/>
    <p:sldId id="298" r:id="rId11"/>
    <p:sldId id="299" r:id="rId12"/>
    <p:sldId id="300" r:id="rId13"/>
    <p:sldId id="302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B07BF-169E-3BD9-FB4D-1758DC458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7C7B2-E1C1-6B54-5F95-3AD5788B1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0621E-E39F-303F-AD49-A7D555105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8C9CA-A7BF-EFB1-40E0-AE13F9D35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865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09C7-D782-FFB6-04D3-801D0069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79F20-8097-E533-15DA-703AD9D50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5E240-59A6-01CF-50B8-717E70475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8151B-31F1-435F-DE4F-1FECFD907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223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7EBB6-281C-F22B-0CD2-ED3B683A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F007C-7280-0EE3-AD37-05B03CC46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1DCDD-496A-96E1-F24A-A9B78BC54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C7953-01EA-34F3-FFF1-06C682CC0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33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9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23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3446" y="648735"/>
            <a:ext cx="5528553" cy="3590596"/>
          </a:xfrm>
        </p:spPr>
        <p:txBody>
          <a:bodyPr>
            <a:normAutofit/>
          </a:bodyPr>
          <a:lstStyle/>
          <a:p>
            <a:r>
              <a:rPr lang="en-IN" dirty="0"/>
              <a:t>Bank Loan Analysis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9B160-1BB9-2D70-65DA-9AC34447A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4667" l="4412" r="95221">
                        <a14:foregroundMark x1="2206" y1="19556" x2="26838" y2="5778"/>
                        <a14:foregroundMark x1="26838" y1="5778" x2="82353" y2="20000"/>
                        <a14:foregroundMark x1="82353" y1="20000" x2="84926" y2="85778"/>
                        <a14:foregroundMark x1="84926" y1="85778" x2="56985" y2="95556"/>
                        <a14:foregroundMark x1="33372" y1="93332" x2="28676" y2="92889"/>
                        <a14:foregroundMark x1="40921" y1="94043" x2="39797" y2="93937"/>
                        <a14:foregroundMark x1="42825" y1="94222" x2="42572" y2="94198"/>
                        <a14:foregroundMark x1="47549" y1="94667" x2="42825" y2="94222"/>
                        <a14:foregroundMark x1="56985" y1="95556" x2="47549" y2="94667"/>
                        <a14:foregroundMark x1="28676" y1="92889" x2="7353" y2="35556"/>
                        <a14:foregroundMark x1="7353" y1="35556" x2="4412" y2="21778"/>
                        <a14:foregroundMark x1="23529" y1="6667" x2="45956" y2="11111"/>
                        <a14:foregroundMark x1="6618" y1="28444" x2="9559" y2="39111"/>
                        <a14:foregroundMark x1="29044" y1="94667" x2="29044" y2="94667"/>
                        <a14:foregroundMark x1="32353" y1="93333" x2="32353" y2="93333"/>
                        <a14:foregroundMark x1="88971" y1="74667" x2="88971" y2="74667"/>
                        <a14:foregroundMark x1="71324" y1="16889" x2="71324" y2="16889"/>
                        <a14:foregroundMark x1="75735" y1="17333" x2="75735" y2="17333"/>
                        <a14:foregroundMark x1="72794" y1="16889" x2="72794" y2="16889"/>
                        <a14:foregroundMark x1="70588" y1="15111" x2="70588" y2="15111"/>
                        <a14:foregroundMark x1="86765" y1="23556" x2="86765" y2="23556"/>
                        <a14:foregroundMark x1="91544" y1="26667" x2="91544" y2="26667"/>
                        <a14:foregroundMark x1="95221" y1="29333" x2="95221" y2="29333"/>
                        <a14:foregroundMark x1="86765" y1="23111" x2="86765" y2="23111"/>
                        <a14:foregroundMark x1="84191" y1="21778" x2="84191" y2="21778"/>
                        <a14:foregroundMark x1="88235" y1="24889" x2="88235" y2="24889"/>
                        <a14:foregroundMark x1="90441" y1="23556" x2="90441" y2="23556"/>
                        <a14:foregroundMark x1="87132" y1="23111" x2="94118" y2="26667"/>
                        <a14:backgroundMark x1="41176" y1="94667" x2="41176" y2="94667"/>
                        <a14:backgroundMark x1="41176" y1="94667" x2="41176" y2="94667"/>
                        <a14:backgroundMark x1="43382" y1="94667" x2="43382" y2="94667"/>
                        <a14:backgroundMark x1="42279" y1="94222" x2="42279" y2="94222"/>
                        <a14:backgroundMark x1="39338" y1="94222" x2="39338" y2="94222"/>
                        <a14:backgroundMark x1="40809" y1="94222" x2="40809" y2="94222"/>
                        <a14:backgroundMark x1="40809" y1="94222" x2="42279" y2="94667"/>
                        <a14:backgroundMark x1="32353" y1="95556" x2="40074" y2="93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3180" y="1539249"/>
            <a:ext cx="2268000" cy="18761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6"/>
            <a:ext cx="6594768" cy="982958"/>
          </a:xfrm>
        </p:spPr>
        <p:txBody>
          <a:bodyPr>
            <a:normAutofit/>
          </a:bodyPr>
          <a:lstStyle/>
          <a:p>
            <a:r>
              <a:rPr lang="en-IN" dirty="0"/>
              <a:t>Summary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785" y="1620307"/>
            <a:ext cx="6594768" cy="4976435"/>
          </a:xfrm>
        </p:spPr>
        <p:txBody>
          <a:bodyPr>
            <a:normAutofit fontScale="62500" lnSpcReduction="20000"/>
          </a:bodyPr>
          <a:lstStyle/>
          <a:p>
            <a:r>
              <a:rPr lang="en-US" sz="3700" dirty="0"/>
              <a:t>Our objective is to develop a comprehensive Bank Loan Report to effectively monitor and evaluate lending activities. </a:t>
            </a:r>
          </a:p>
          <a:p>
            <a:r>
              <a:rPr lang="en-US" sz="3700" dirty="0"/>
              <a:t>This report provides key insights into critical loan metrics, enabling data-driven decision-making and strategic planning. </a:t>
            </a:r>
          </a:p>
          <a:p>
            <a:r>
              <a:rPr lang="en-US" sz="3700" dirty="0"/>
              <a:t>By analyzing trends and changes over time, it helps ensure the overall health, performance, and sustainability of the loan portfolio</a:t>
            </a:r>
            <a:r>
              <a:rPr lang="en-US" dirty="0"/>
              <a:t>.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CAD1-0111-7F6D-288F-22238507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B47C-60A0-8660-2C13-902209286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6"/>
            <a:ext cx="6594768" cy="982958"/>
          </a:xfrm>
        </p:spPr>
        <p:txBody>
          <a:bodyPr>
            <a:normAutofit/>
          </a:bodyPr>
          <a:lstStyle/>
          <a:p>
            <a:r>
              <a:rPr lang="en-IN" dirty="0"/>
              <a:t>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8B00-5D83-6A6B-9C5E-D62E7B72C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2785" y="1620308"/>
            <a:ext cx="6594768" cy="30496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dataset consists of </a:t>
            </a:r>
            <a:r>
              <a:rPr lang="en-US" b="1" dirty="0"/>
              <a:t>39,717 </a:t>
            </a:r>
            <a:r>
              <a:rPr lang="en-US" dirty="0"/>
              <a:t>loan applications. </a:t>
            </a:r>
          </a:p>
          <a:p>
            <a:r>
              <a:rPr lang="en-US" dirty="0"/>
              <a:t>It is analyzed across multiple categories to identify patterns between </a:t>
            </a:r>
            <a:r>
              <a:rPr lang="en-US" b="1" dirty="0"/>
              <a:t>verified and non-verified </a:t>
            </a:r>
            <a:r>
              <a:rPr lang="en-US" dirty="0"/>
              <a:t>customers based on year and interest rates. Additionally, the analysis examines the impact of payment modes on loan performance and customer behavior.</a:t>
            </a:r>
            <a:endParaRPr lang="en-IN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DF487FA4-C7EA-2CBA-61CF-BED2FA0209B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C7C31EE2-E7C9-7120-952E-75885DE77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6F7F380-3640-3352-1A7D-1020B27ED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699A0D-5712-D901-C2E9-BFF20569D314}"/>
              </a:ext>
            </a:extLst>
          </p:cNvPr>
          <p:cNvSpPr txBox="1"/>
          <p:nvPr/>
        </p:nvSpPr>
        <p:spPr>
          <a:xfrm>
            <a:off x="5007666" y="5018316"/>
            <a:ext cx="4076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Total Records:               39,717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Total Loan Amount :      $ 445.6 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Total Funded Amount :  $ 434.8 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Good Loan % :               85.8 %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Bad Loan % :                 14.2 %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795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E51DE9-8C06-F543-0A78-56823BAEC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CF1B89-7785-898D-8C71-2EEDA483E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3" y="50275"/>
            <a:ext cx="10665845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Year-wise LoAN Amount Stats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29574"/>
            <a:ext cx="7723761" cy="59919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15801" y="713056"/>
            <a:ext cx="4065401" cy="2862322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🔍 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Loan amount shows a consistent increasing trend over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Highest growth observed between 2007–2010Indicates rising demand for loans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Possible reason: economic expansion or relaxed lending policies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7915802" y="4068058"/>
            <a:ext cx="4065401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💡 Business Solutions: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loan approval capacity for high-demand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Introduce risk control policies to avoid over-lending Target high-growth years with marketing campaigns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credit risk assessment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13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3" y="50275"/>
            <a:ext cx="10665845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Grade &amp; Sub-grade wise Revolving Balance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50380"/>
            <a:ext cx="8263054" cy="5207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68457" y="1502688"/>
            <a:ext cx="3686260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🔍 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grades (like C, D, E) have higher revolving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grades (A, B) maintain lower debt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higher credit risk in lower-grade customers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b="1" dirty="0"/>
              <a:t>Business Solutions: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strict credit policies for lower grades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interest rates for risky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 financial planning support to high-debt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marketing on high-grade customers (low risk)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3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3" y="50275"/>
            <a:ext cx="10665845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Verified vs Non-Verified Total Payment </a:t>
            </a:r>
            <a:r>
              <a:rPr lang="en-IN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995424" y="1449106"/>
            <a:ext cx="3953890" cy="53245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Verified customers contribute higher total payments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Non-verified customers show lower repayment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Verification improves trust and repayment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r>
              <a:rPr lang="en-US" sz="2000" b="1" dirty="0"/>
              <a:t> Business Solutions: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Encourage mandatory verification process Provide faster approval for verified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Restrict loan limits for non-verified applicants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Improve KYC and document verification systems</a:t>
            </a:r>
            <a:endParaRPr lang="en-IN" sz="2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9" y="1594624"/>
            <a:ext cx="7687372" cy="525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12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3" y="50275"/>
            <a:ext cx="10665845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State-wise &amp; Month-wise Loan Status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2" y="1514475"/>
            <a:ext cx="8029575" cy="5343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63775" y="1514475"/>
            <a:ext cx="3594410" cy="50167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🔍 Key 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 states show higher loan defaults or delays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Loan activity varies by month (seasonal trends)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Peak months indicate higher loan demand</a:t>
            </a:r>
          </a:p>
          <a:p>
            <a:r>
              <a:rPr lang="en-US" sz="2000" b="1" dirty="0"/>
              <a:t>💡 Business Solutions: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Focus on high-performing states for expansion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strict policies in high-default states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Launch seasonal loan offers during peak months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Allocate resources based on regional performance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99574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3" y="50275"/>
            <a:ext cx="10665845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Home Ownership vs Repayment Behaviour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46126" y="1564122"/>
            <a:ext cx="5177883" cy="52629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🔍 Key 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Customers with home ownership tend to repay more regularly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Renters show higher delay in last payments Ownership indicates financial stability</a:t>
            </a:r>
          </a:p>
          <a:p>
            <a:r>
              <a:rPr lang="en-US" sz="2400" b="1" dirty="0"/>
              <a:t>💡 Business Solutions: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Offer better interest rates to homeowners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Apply risk checks for renters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Introduce flexible EMI plans for unstable customers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ownership as a key credit evaluation factor</a:t>
            </a:r>
            <a:endParaRPr lang="en-IN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7E7CE3-DCD3-CF90-490D-8F43B9E56C16}"/>
              </a:ext>
            </a:extLst>
          </p:cNvPr>
          <p:cNvGrpSpPr/>
          <p:nvPr/>
        </p:nvGrpSpPr>
        <p:grpSpPr>
          <a:xfrm>
            <a:off x="405401" y="1564122"/>
            <a:ext cx="6049828" cy="5076164"/>
            <a:chOff x="7152234" y="3661272"/>
            <a:chExt cx="4916940" cy="240571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2CA954B-EB22-97EF-1414-BECC85026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53849" y="3661272"/>
              <a:ext cx="4915325" cy="136930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75AC839-6934-4699-6B8A-CED0BCABE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52234" y="5030575"/>
              <a:ext cx="4916939" cy="1036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974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1C31E-D6A7-37F4-F3D9-E539CD383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BB3D0B-FA20-6BEF-A77E-D5D4AF058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07956"/>
            <a:ext cx="11353800" cy="6210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845E2C-5DDA-4FE6-05E8-6BCCB5CE4B5B}"/>
              </a:ext>
            </a:extLst>
          </p:cNvPr>
          <p:cNvSpPr txBox="1"/>
          <p:nvPr/>
        </p:nvSpPr>
        <p:spPr>
          <a:xfrm>
            <a:off x="4414157" y="46291"/>
            <a:ext cx="3363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339147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2C36-BDE9-B520-DF3D-4286A70EA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7DFB8-CB38-83D3-C361-A78937AD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00CD5-7D86-7448-43DD-CAE029C9455A}"/>
              </a:ext>
            </a:extLst>
          </p:cNvPr>
          <p:cNvSpPr txBox="1"/>
          <p:nvPr/>
        </p:nvSpPr>
        <p:spPr>
          <a:xfrm>
            <a:off x="4414157" y="46291"/>
            <a:ext cx="3363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Tableau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2EE05-A830-64DA-3D8E-F96666D90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8" y="412376"/>
            <a:ext cx="11689976" cy="630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22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52C2-1302-B59D-C8D2-C8F7CA79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70BAE-3672-4315-8B07-2DFB5732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30B73-B4DF-AE21-3CB9-E4CC44DF0482}"/>
              </a:ext>
            </a:extLst>
          </p:cNvPr>
          <p:cNvSpPr txBox="1"/>
          <p:nvPr/>
        </p:nvSpPr>
        <p:spPr>
          <a:xfrm>
            <a:off x="2525486" y="46291"/>
            <a:ext cx="731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Power BI Dashboard - </a:t>
            </a:r>
            <a:r>
              <a:rPr lang="en-IN" sz="2400" b="1" dirty="0"/>
              <a:t>Summary</a:t>
            </a:r>
            <a:r>
              <a:rPr lang="en-IN" sz="2400" dirty="0"/>
              <a:t> </a:t>
            </a:r>
            <a:r>
              <a:rPr lang="en-IN" sz="2400" b="1" dirty="0"/>
              <a:t>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1810A-1C16-9AAD-9615-2D88F3A6D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5" y="507956"/>
            <a:ext cx="11321142" cy="62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00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1C62-3A88-5FDD-9EFD-F81BCEA39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55D9A-DFE7-9728-581B-B76261C3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7D17A-5796-BCF7-D984-6E11D68795AA}"/>
              </a:ext>
            </a:extLst>
          </p:cNvPr>
          <p:cNvSpPr txBox="1"/>
          <p:nvPr/>
        </p:nvSpPr>
        <p:spPr>
          <a:xfrm>
            <a:off x="2177143" y="46291"/>
            <a:ext cx="7456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Power BI Dashboard - </a:t>
            </a:r>
            <a:r>
              <a:rPr lang="en-IN" sz="2400" b="1" dirty="0"/>
              <a:t>Risk</a:t>
            </a:r>
            <a:r>
              <a:rPr lang="en-IN" sz="2400" dirty="0"/>
              <a:t> </a:t>
            </a:r>
            <a:r>
              <a:rPr lang="en-IN" sz="2400" b="1" dirty="0"/>
              <a:t>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B24D7-4134-9DC4-BF3D-861244AE3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507956"/>
            <a:ext cx="11397343" cy="621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16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91314-C324-A5BE-BF5B-2B741FC6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86533-ED5C-A7A6-A682-C497DACD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6B49A-8647-EEEB-68A5-78CADA80C65F}"/>
              </a:ext>
            </a:extLst>
          </p:cNvPr>
          <p:cNvSpPr txBox="1"/>
          <p:nvPr/>
        </p:nvSpPr>
        <p:spPr>
          <a:xfrm>
            <a:off x="2982686" y="46291"/>
            <a:ext cx="6868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Power BI Dashboard - </a:t>
            </a:r>
            <a:r>
              <a:rPr lang="en-IN" sz="2400" b="1" dirty="0"/>
              <a:t>Regional Performance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A5FC1-82A2-E199-94D5-469A60C65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507956"/>
            <a:ext cx="11342914" cy="621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75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F9AD0-1DA5-F625-E3B1-CD2E2D8D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4DFDD9-6D36-2FEA-74D7-C02CE0202A53}"/>
              </a:ext>
            </a:extLst>
          </p:cNvPr>
          <p:cNvSpPr txBox="1"/>
          <p:nvPr/>
        </p:nvSpPr>
        <p:spPr>
          <a:xfrm>
            <a:off x="2639007" y="46291"/>
            <a:ext cx="6711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SQL Analysis &amp; Business Queries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A13AD9-D43A-EB64-D47B-1D0F88F4B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371"/>
            <a:ext cx="7271657" cy="618033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4E75A56-64CE-3586-F4A0-1DAAA923847D}"/>
              </a:ext>
            </a:extLst>
          </p:cNvPr>
          <p:cNvGrpSpPr/>
          <p:nvPr/>
        </p:nvGrpSpPr>
        <p:grpSpPr>
          <a:xfrm>
            <a:off x="105947" y="507955"/>
            <a:ext cx="2659637" cy="2507387"/>
            <a:chOff x="174605" y="1200634"/>
            <a:chExt cx="2568163" cy="248640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4887EE-03C1-D7C6-EFCD-6E36459A9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605" y="1200634"/>
              <a:ext cx="2568163" cy="13869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9D727B-B4C5-3CDC-B988-42383B0D4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4605" y="2604904"/>
              <a:ext cx="2568163" cy="1082134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A0B372-8F5E-8E2C-6096-D47CBC83AF5E}"/>
              </a:ext>
            </a:extLst>
          </p:cNvPr>
          <p:cNvGrpSpPr/>
          <p:nvPr/>
        </p:nvGrpSpPr>
        <p:grpSpPr>
          <a:xfrm>
            <a:off x="105947" y="3184810"/>
            <a:ext cx="3950683" cy="3546204"/>
            <a:chOff x="2937111" y="659567"/>
            <a:chExt cx="4840732" cy="379508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33A3985-45E9-8AAD-0ABF-FB5908D75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38724" y="659567"/>
              <a:ext cx="4839119" cy="192040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457102-F865-3F8A-731A-1F0F924FC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37111" y="2579973"/>
              <a:ext cx="4839119" cy="187468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64A62C-468B-5EDB-33D2-05D681D99A75}"/>
              </a:ext>
            </a:extLst>
          </p:cNvPr>
          <p:cNvGrpSpPr/>
          <p:nvPr/>
        </p:nvGrpSpPr>
        <p:grpSpPr>
          <a:xfrm>
            <a:off x="2925656" y="536258"/>
            <a:ext cx="3843967" cy="2479084"/>
            <a:chOff x="8374766" y="841873"/>
            <a:chExt cx="3635055" cy="255446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C5BC0EC-1D60-6BFF-70D7-2F38F15AB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90007" y="841873"/>
              <a:ext cx="3619814" cy="180609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77E417E-6F0E-F61C-0C42-5B9806789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74766" y="2649517"/>
              <a:ext cx="3635055" cy="746825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370713-D7B3-FD43-4A73-25A80822E510}"/>
              </a:ext>
            </a:extLst>
          </p:cNvPr>
          <p:cNvGrpSpPr/>
          <p:nvPr/>
        </p:nvGrpSpPr>
        <p:grpSpPr>
          <a:xfrm>
            <a:off x="6929694" y="507956"/>
            <a:ext cx="5154721" cy="3029901"/>
            <a:chOff x="7138607" y="507956"/>
            <a:chExt cx="4945808" cy="363505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228EB16-F4B6-401B-ACD1-02F42D67D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53848" y="507956"/>
              <a:ext cx="4930567" cy="179085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4843DE9-A616-C620-F894-CE943C8B8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38607" y="2298811"/>
              <a:ext cx="4930567" cy="18442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7E0C79A-6635-B784-8E6D-F8C429A6477F}"/>
              </a:ext>
            </a:extLst>
          </p:cNvPr>
          <p:cNvGrpSpPr/>
          <p:nvPr/>
        </p:nvGrpSpPr>
        <p:grpSpPr>
          <a:xfrm>
            <a:off x="6945579" y="3639912"/>
            <a:ext cx="5140474" cy="3069742"/>
            <a:chOff x="7152234" y="3661272"/>
            <a:chExt cx="4916940" cy="240571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A4A2FF3-A10A-83D8-F3DC-B2F1FCB5B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53849" y="3661272"/>
              <a:ext cx="4915325" cy="136930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397E976-3A27-77D9-F4E8-3487CA2E3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52234" y="5030575"/>
              <a:ext cx="4916939" cy="103641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D7DB39-4A98-8F76-7D24-4882ABBE8C2F}"/>
              </a:ext>
            </a:extLst>
          </p:cNvPr>
          <p:cNvGrpSpPr/>
          <p:nvPr/>
        </p:nvGrpSpPr>
        <p:grpSpPr>
          <a:xfrm>
            <a:off x="4159945" y="3184810"/>
            <a:ext cx="2609678" cy="3524844"/>
            <a:chOff x="4159945" y="3184810"/>
            <a:chExt cx="2609678" cy="275542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57B5BA7-AE11-2664-C36A-B55D43233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161261" y="3184810"/>
              <a:ext cx="2608362" cy="2034716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8F803A5-8B76-FA0E-5F46-58E64F79F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59945" y="5215447"/>
              <a:ext cx="2608362" cy="724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0867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72B0-F746-C49C-113F-CE62BB2E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93D1-6147-60D5-F944-FCD5F9A8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500" y="108857"/>
            <a:ext cx="6594768" cy="98295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Conclusion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616577B9-85E8-90BF-79AC-35BC07D5DB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64CF00D9-75C7-E5EE-BA00-D62434C6E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0948318-CEDE-CF0B-2811-E47D7F6E4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82D587BA-F8AB-41D5-67F8-BFC807C063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73538" y="851379"/>
            <a:ext cx="801846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Banks need to understand customer demographics such as income level, home ownership, verification status, and credit behavior before approving loans. This helps in better risk assessment and targeted loan offerings.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Analysis of loan purposes such as debt consolidation, home improvement, education, and personal use helps banks understand customer needs and design suitable financial products.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Grade, sub-grade, and revolving balance analysis helps identify high-risk customer segments and improve lending strategies for better profitability.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Good Loan vs Bad Loan analysis helps banks measure portfolio health by identifying fully paid loans and high-risk default loans. This supports better decision-making and default prevention.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Verified customers and homeowners generally show better repayment behavior, indicating stronger financial stability and lower default risk.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State-wise and month-wise loan analysis helps identify high-performing regions and seasonal loan demand trends for better business planning. </a:t>
            </a:r>
          </a:p>
        </p:txBody>
      </p:sp>
    </p:spTree>
    <p:extLst>
      <p:ext uri="{BB962C8B-B14F-4D97-AF65-F5344CB8AC3E}">
        <p14:creationId xmlns:p14="http://schemas.microsoft.com/office/powerpoint/2010/main" val="3112920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3399-2703-6C20-D5B3-93AC6C43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F13C-59EE-DD0C-3C43-6AF38B853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4089" y="1681153"/>
            <a:ext cx="7495957" cy="1696344"/>
          </a:xfrm>
        </p:spPr>
        <p:txBody>
          <a:bodyPr>
            <a:normAutofit/>
          </a:bodyPr>
          <a:lstStyle/>
          <a:p>
            <a:r>
              <a:rPr lang="en-IN" dirty="0">
                <a:latin typeface="Monotype Corsiva" panose="03010101010201010101" pitchFamily="66" charset="0"/>
              </a:rPr>
              <a:t>         </a:t>
            </a:r>
            <a:r>
              <a:rPr lang="en-IN" sz="8000" dirty="0">
                <a:latin typeface="Monotype Corsiva" panose="03010101010201010101" pitchFamily="66" charset="0"/>
              </a:rPr>
              <a:t>Thank YOU</a:t>
            </a:r>
            <a:endParaRPr lang="en-US" dirty="0">
              <a:latin typeface="Monotype Corsiva" panose="03010101010201010101" pitchFamily="66" charset="0"/>
            </a:endParaRP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6E748DEF-BCDC-9F12-6782-9D026E73A4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41687442-0FA4-4F55-C0A4-ADE8E3726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D9854D6-3BE8-2498-11A2-796FF6B9A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E204F5-2441-4EC9-E6B5-0DA125713521}"/>
              </a:ext>
            </a:extLst>
          </p:cNvPr>
          <p:cNvSpPr txBox="1"/>
          <p:nvPr/>
        </p:nvSpPr>
        <p:spPr>
          <a:xfrm>
            <a:off x="4844132" y="4082490"/>
            <a:ext cx="61558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Questions &amp; Suggestions</a:t>
            </a:r>
          </a:p>
        </p:txBody>
      </p:sp>
    </p:spTree>
    <p:extLst>
      <p:ext uri="{BB962C8B-B14F-4D97-AF65-F5344CB8AC3E}">
        <p14:creationId xmlns:p14="http://schemas.microsoft.com/office/powerpoint/2010/main" val="22225827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71af3243-3dd4-4a8d-8c0d-dd76da1f02a5"/>
    <ds:schemaRef ds:uri="230e9df3-be65-4c73-a93b-d1236ebd677e"/>
    <ds:schemaRef ds:uri="http://schemas.microsoft.com/office/2006/metadata/properties"/>
    <ds:schemaRef ds:uri="http://purl.org/dc/dcmitype/"/>
    <ds:schemaRef ds:uri="16c05727-aa75-4e4a-9b5f-8a80a1165891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sharepoint/v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Colorful abstract pitch deck</Template>
  <TotalTime>578</TotalTime>
  <Words>657</Words>
  <Application>Microsoft Office PowerPoint</Application>
  <PresentationFormat>Widescreen</PresentationFormat>
  <Paragraphs>102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Avenir Next LT Pro</vt:lpstr>
      <vt:lpstr>Calibri</vt:lpstr>
      <vt:lpstr>Monotype Corsiva</vt:lpstr>
      <vt:lpstr>Wingdings</vt:lpstr>
      <vt:lpstr>Custom</vt:lpstr>
      <vt:lpstr>Bank Loan Analysis</vt:lpstr>
      <vt:lpstr>Summary</vt:lpstr>
      <vt:lpstr>Overview</vt:lpstr>
      <vt:lpstr>PowerPoint Presentation</vt:lpstr>
      <vt:lpstr>PowerPoint Presentation</vt:lpstr>
      <vt:lpstr>Year-wise LoAN Amount Stats</vt:lpstr>
      <vt:lpstr> Grade &amp; Sub-grade wise Revolving Balance</vt:lpstr>
      <vt:lpstr>Verified vs Non-Verified Total Payment Analysis</vt:lpstr>
      <vt:lpstr>State-wise &amp; Month-wise Loan Status</vt:lpstr>
      <vt:lpstr>Home Ownership vs Repayment Behaviour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Analysis</dc:title>
  <dc:creator>PRERANA MORE</dc:creator>
  <cp:lastModifiedBy>Prathmesh Harischandrakar</cp:lastModifiedBy>
  <cp:revision>25</cp:revision>
  <dcterms:created xsi:type="dcterms:W3CDTF">2026-04-20T11:00:59Z</dcterms:created>
  <dcterms:modified xsi:type="dcterms:W3CDTF">2026-08-29T10:04:18Z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